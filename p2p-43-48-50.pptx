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7"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9.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0" name="Google Shape;110;p18"/>
          <p:cNvSpPr/>
          <p:nvPr/>
        </p:nvSpPr>
        <p:spPr>
          <a:xfrm>
            <a:off x="118440" y="146520"/>
            <a:ext cx="8906760" cy="119124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1" name="Google Shape;112;p19"/>
          <p:cNvSpPr/>
          <p:nvPr/>
        </p:nvSpPr>
        <p:spPr>
          <a:xfrm rot="5400000">
            <a:off x="4471560" y="532800"/>
            <a:ext cx="201240" cy="862776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69080" y="1719360"/>
            <a:ext cx="6339600" cy="2122920"/>
          </a:xfrm>
          <a:prstGeom prst="rect">
            <a:avLst/>
          </a:prstGeom>
          <a:noFill/>
          <a:ln w="0">
            <a:noFill/>
          </a:ln>
        </p:spPr>
        <p:txBody>
          <a:bodyPr lIns="91440" rIns="91440" tIns="91440" bIns="91440" anchor="b">
            <a:noAutofit/>
          </a:bodyPr>
          <a:p>
            <a:pPr indent="0">
              <a:lnSpc>
                <a:spcPct val="100000"/>
              </a:lnSpc>
              <a:buNone/>
              <a:tabLst>
                <a:tab algn="l" pos="0"/>
              </a:tabLst>
            </a:pPr>
            <a:r>
              <a:rPr b="0" lang="fr-FR" sz="4200" strike="noStrike" u="none">
                <a:solidFill>
                  <a:schemeClr val="dk1"/>
                </a:solidFill>
                <a:effectLst/>
                <a:uFillTx/>
                <a:latin typeface="Arial"/>
              </a:rPr>
              <a:t>Click to edit the </a:t>
            </a:r>
            <a:r>
              <a:rPr b="0" lang="fr-FR" sz="4200" strike="noStrike" u="none">
                <a:solidFill>
                  <a:schemeClr val="dk1"/>
                </a:solidFill>
                <a:effectLst/>
                <a:uFillTx/>
                <a:latin typeface="Arial"/>
              </a:rPr>
              <a:t>title text format</a:t>
            </a:r>
            <a:endParaRPr b="0" lang="en-US" sz="4200" strike="noStrike" u="none">
              <a:solidFill>
                <a:srgbClr val="ffffff"/>
              </a:solidFill>
              <a:effectLst/>
              <a:uFillTx/>
              <a:latin typeface="Noto Serif"/>
            </a:endParaRPr>
          </a:p>
        </p:txBody>
      </p:sp>
      <p:sp>
        <p:nvSpPr>
          <p:cNvPr id="3" name="PlaceHolder 2"/>
          <p:cNvSpPr>
            <a:spLocks noGrp="1"/>
          </p:cNvSpPr>
          <p:nvPr>
            <p:ph type="title"/>
          </p:nvPr>
        </p:nvSpPr>
        <p:spPr>
          <a:xfrm>
            <a:off x="469080" y="487080"/>
            <a:ext cx="1181880" cy="840960"/>
          </a:xfrm>
          <a:prstGeom prst="rect">
            <a:avLst/>
          </a:prstGeom>
          <a:noFill/>
          <a:ln w="0">
            <a:noFill/>
          </a:ln>
        </p:spPr>
        <p:txBody>
          <a:bodyPr lIns="91440" rIns="91440" tIns="91440" bIns="91440" anchor="b">
            <a:noAutofit/>
          </a:bodyPr>
          <a:p>
            <a:pPr indent="0">
              <a:lnSpc>
                <a:spcPct val="100000"/>
              </a:lnSpc>
              <a:buNone/>
              <a:tabLst>
                <a:tab algn="l" pos="0"/>
              </a:tabLst>
            </a:pPr>
            <a:r>
              <a:rPr b="1" lang="fr-FR" sz="6000" strike="noStrike" u="none">
                <a:solidFill>
                  <a:schemeClr val="accent2"/>
                </a:solidFill>
                <a:effectLst/>
                <a:uFillTx/>
                <a:latin typeface="Manrope"/>
                <a:ea typeface="Manrope"/>
              </a:rPr>
              <a:t>xx%</a:t>
            </a:r>
            <a:endParaRPr b="0" lang="en-US" sz="6000" strike="noStrike" u="none">
              <a:solidFill>
                <a:srgbClr val="ffffff"/>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20000" y="22860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
        <p:nvSpPr>
          <p:cNvPr id="5" name="PlaceHolder 2"/>
          <p:cNvSpPr>
            <a:spLocks noGrp="1"/>
          </p:cNvSpPr>
          <p:nvPr>
            <p:ph type="body"/>
          </p:nvPr>
        </p:nvSpPr>
        <p:spPr>
          <a:xfrm>
            <a:off x="720000" y="999360"/>
            <a:ext cx="7703280" cy="3415680"/>
          </a:xfrm>
          <a:prstGeom prst="rect">
            <a:avLst/>
          </a:prstGeom>
          <a:noFill/>
          <a:ln w="0">
            <a:noFill/>
          </a:ln>
        </p:spPr>
        <p:txBody>
          <a:bodyPr lIns="91440" rIns="91440" tIns="91440" bIns="91440" anchor="t">
            <a:noAutofit/>
          </a:bodyPr>
          <a:p>
            <a:pPr marL="432000" indent="-324000">
              <a:lnSpc>
                <a:spcPct val="100000"/>
              </a:lnSpc>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Noto Serif"/>
            </a:endParaRPr>
          </a:p>
          <a:p>
            <a:pPr lvl="1" marL="864000" indent="-324000">
              <a:lnSpc>
                <a:spcPct val="100000"/>
              </a:lnSpc>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rgbClr val="ffffff"/>
              </a:solidFill>
              <a:effectLst/>
              <a:uFillTx/>
              <a:latin typeface="Noto Serif"/>
            </a:endParaRPr>
          </a:p>
          <a:p>
            <a:pPr lvl="2" marL="1296000" indent="-288000">
              <a:lnSpc>
                <a:spcPct val="100000"/>
              </a:lnSpc>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rgbClr val="ffffff"/>
              </a:solidFill>
              <a:effectLst/>
              <a:uFillTx/>
              <a:latin typeface="Noto Serif"/>
            </a:endParaRPr>
          </a:p>
          <a:p>
            <a:pPr lvl="3" marL="1728000" indent="-216000">
              <a:lnSpc>
                <a:spcPct val="100000"/>
              </a:lnSpc>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rgbClr val="ffffff"/>
              </a:solidFill>
              <a:effectLst/>
              <a:uFillTx/>
              <a:latin typeface="Noto Serif"/>
            </a:endParaRPr>
          </a:p>
          <a:p>
            <a:pPr lvl="4" marL="2160000" indent="-216000">
              <a:lnSpc>
                <a:spcPct val="100000"/>
              </a:lnSpc>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en-US" sz="1400" strike="noStrike" u="none">
              <a:solidFill>
                <a:srgbClr val="ffffff"/>
              </a:solidFill>
              <a:effectLst/>
              <a:uFillTx/>
              <a:latin typeface="Noto Serif"/>
            </a:endParaRPr>
          </a:p>
          <a:p>
            <a:pPr lvl="5" marL="2592000" indent="-216000">
              <a:lnSpc>
                <a:spcPct val="100000"/>
              </a:lnSpc>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en-US" sz="1400" strike="noStrike" u="none">
              <a:solidFill>
                <a:srgbClr val="ffffff"/>
              </a:solidFill>
              <a:effectLst/>
              <a:uFillTx/>
              <a:latin typeface="Noto Serif"/>
            </a:endParaRPr>
          </a:p>
          <a:p>
            <a:pPr lvl="6" marL="3024000" indent="-216000">
              <a:lnSpc>
                <a:spcPct val="100000"/>
              </a:lnSpc>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en-US" sz="1400" strike="noStrike" u="none">
              <a:solidFill>
                <a:srgbClr val="ffffff"/>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6" name="Google Shape;19;p5"/>
          <p:cNvSpPr/>
          <p:nvPr/>
        </p:nvSpPr>
        <p:spPr>
          <a:xfrm>
            <a:off x="118440" y="146520"/>
            <a:ext cx="8906760" cy="119124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 name="PlaceHolder 1"/>
          <p:cNvSpPr>
            <a:spLocks noGrp="1"/>
          </p:cNvSpPr>
          <p:nvPr>
            <p:ph type="title"/>
          </p:nvPr>
        </p:nvSpPr>
        <p:spPr>
          <a:xfrm>
            <a:off x="720000" y="45864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
        <p:nvSpPr>
          <p:cNvPr id="8" name="Google Shape;25;p5"/>
          <p:cNvSpPr/>
          <p:nvPr/>
        </p:nvSpPr>
        <p:spPr>
          <a:xfrm rot="5400000">
            <a:off x="4492440" y="429840"/>
            <a:ext cx="222120" cy="896904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720000" y="45864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
        <p:nvSpPr>
          <p:cNvPr id="10" name="Google Shape;28;p6"/>
          <p:cNvSpPr/>
          <p:nvPr/>
        </p:nvSpPr>
        <p:spPr>
          <a:xfrm>
            <a:off x="136080" y="132480"/>
            <a:ext cx="8871480" cy="49521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11" name="Google Shape;30;p7"/>
          <p:cNvSpPr/>
          <p:nvPr/>
        </p:nvSpPr>
        <p:spPr>
          <a:xfrm>
            <a:off x="118440" y="146520"/>
            <a:ext cx="8906760" cy="119124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2" name="PlaceHolder 1"/>
          <p:cNvSpPr>
            <a:spLocks noGrp="1"/>
          </p:cNvSpPr>
          <p:nvPr>
            <p:ph type="title"/>
          </p:nvPr>
        </p:nvSpPr>
        <p:spPr>
          <a:xfrm>
            <a:off x="720000" y="45864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133280" y="1896480"/>
            <a:ext cx="6876360" cy="1204560"/>
          </a:xfrm>
          <a:prstGeom prst="rect">
            <a:avLst/>
          </a:prstGeom>
          <a:noFill/>
          <a:ln w="0">
            <a:noFill/>
          </a:ln>
        </p:spPr>
        <p:txBody>
          <a:bodyPr lIns="91440" rIns="91440" tIns="91440" bIns="91440" anchor="ctr">
            <a:noAutofit/>
          </a:bodyPr>
          <a:p>
            <a:pPr indent="0">
              <a:lnSpc>
                <a:spcPct val="100000"/>
              </a:lnSpc>
              <a:buNone/>
              <a:tabLst>
                <a:tab algn="l" pos="0"/>
              </a:tabLst>
            </a:pPr>
            <a:r>
              <a:rPr b="0" lang="fr-FR" sz="6000" strike="noStrike" u="none">
                <a:solidFill>
                  <a:schemeClr val="dk1"/>
                </a:solidFill>
                <a:effectLst/>
                <a:uFillTx/>
                <a:latin typeface="Arial"/>
              </a:rPr>
              <a:t>Click to edit the title text format</a:t>
            </a:r>
            <a:endParaRPr b="0" lang="en-US" sz="6000" strike="noStrike" u="none">
              <a:solidFill>
                <a:srgbClr val="ffffff"/>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28600" y="601920"/>
            <a:ext cx="4727880" cy="1402560"/>
          </a:xfrm>
          <a:prstGeom prst="rect">
            <a:avLst/>
          </a:prstGeom>
          <a:noFill/>
          <a:ln w="0">
            <a:noFill/>
          </a:ln>
        </p:spPr>
        <p:txBody>
          <a:bodyPr lIns="91440" rIns="91440" tIns="91440" bIns="91440" anchor="b">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
        <p:nvSpPr>
          <p:cNvPr id="15" name="PlaceHolder 2"/>
          <p:cNvSpPr>
            <a:spLocks noGrp="1"/>
          </p:cNvSpPr>
          <p:nvPr>
            <p:ph type="body"/>
          </p:nvPr>
        </p:nvSpPr>
        <p:spPr>
          <a:xfrm>
            <a:off x="5659200" y="0"/>
            <a:ext cx="3484080" cy="5142960"/>
          </a:xfrm>
          <a:prstGeom prst="rect">
            <a:avLst/>
          </a:prstGeom>
          <a:noFill/>
          <a:ln w="0">
            <a:noFill/>
          </a:ln>
        </p:spPr>
        <p:txBody>
          <a:bodyPr lIns="90000" rIns="90000" tIns="45000" bIns="45000" anchor="t">
            <a:normAutofit fontScale="85000" lnSpcReduction="9999"/>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Noto Serif"/>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Noto Serif"/>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Noto Serif"/>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Noto Serif"/>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Noto Serif"/>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Noto Serif"/>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body"/>
          </p:nvPr>
        </p:nvSpPr>
        <p:spPr>
          <a:xfrm>
            <a:off x="0" y="0"/>
            <a:ext cx="9143280" cy="5142960"/>
          </a:xfrm>
          <a:prstGeom prst="rect">
            <a:avLst/>
          </a:prstGeom>
          <a:noFill/>
          <a:ln w="0">
            <a:noFill/>
          </a:ln>
        </p:spPr>
        <p:txBody>
          <a:bodyPr lIns="90000" rIns="90000" tIns="45000" bIns="45000" anchor="t">
            <a:normAutofit/>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Noto Serif"/>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Noto Serif"/>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Noto Serif"/>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Noto Serif"/>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Noto Serif"/>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Noto Serif"/>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Noto Serif"/>
            </a:endParaRPr>
          </a:p>
        </p:txBody>
      </p:sp>
      <p:sp>
        <p:nvSpPr>
          <p:cNvPr id="17" name="PlaceHolder 2"/>
          <p:cNvSpPr>
            <a:spLocks noGrp="1"/>
          </p:cNvSpPr>
          <p:nvPr>
            <p:ph type="title"/>
          </p:nvPr>
        </p:nvSpPr>
        <p:spPr>
          <a:xfrm>
            <a:off x="1390320" y="3955680"/>
            <a:ext cx="6363000" cy="572040"/>
          </a:xfrm>
          <a:prstGeom prst="rect">
            <a:avLst/>
          </a:prstGeom>
          <a:solidFill>
            <a:schemeClr val="lt1"/>
          </a:solidFill>
          <a:ln w="0">
            <a:noFill/>
          </a:ln>
        </p:spPr>
        <p:txBody>
          <a:bodyPr lIns="91440" rIns="91440" tIns="91440" bIns="91440" anchor="ctr">
            <a:noAutofit/>
          </a:bodyPr>
          <a:p>
            <a:pPr indent="0">
              <a:lnSpc>
                <a:spcPct val="100000"/>
              </a:lnSpc>
              <a:buNone/>
              <a:tabLst>
                <a:tab algn="l" pos="0"/>
              </a:tabLst>
            </a:pPr>
            <a:r>
              <a:rPr b="0" lang="fr-FR" sz="2000" strike="noStrike" u="none">
                <a:solidFill>
                  <a:schemeClr val="dk1"/>
                </a:solidFill>
                <a:effectLst/>
                <a:uFillTx/>
                <a:latin typeface="Arial"/>
              </a:rPr>
              <a:t>Click to edit the title text format</a:t>
            </a:r>
            <a:endParaRPr b="0" lang="en-US" sz="2000" strike="noStrike" u="none">
              <a:solidFill>
                <a:srgbClr val="ffffff"/>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189880" y="2574000"/>
            <a:ext cx="4493160" cy="149544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Autofit/>
          </a:bodyPr>
          <a:p>
            <a:pPr indent="0">
              <a:lnSpc>
                <a:spcPct val="100000"/>
              </a:lnSpc>
              <a:buNone/>
              <a:tabLst>
                <a:tab algn="l" pos="0"/>
              </a:tabLst>
            </a:pPr>
            <a:r>
              <a:rPr b="0" lang="fr-FR" sz="4200" strike="noStrike" u="none">
                <a:solidFill>
                  <a:schemeClr val="dk1"/>
                </a:solidFill>
                <a:effectLst/>
                <a:uFillTx/>
                <a:latin typeface="Arial"/>
              </a:rPr>
              <a:t>Click to edit the title text format</a:t>
            </a:r>
            <a:endParaRPr b="0" lang="en-US" sz="4200" strike="noStrike" u="none">
              <a:solidFill>
                <a:srgbClr val="ffffff"/>
              </a:solidFill>
              <a:effectLst/>
              <a:uFillTx/>
              <a:latin typeface="Noto Serif"/>
            </a:endParaRPr>
          </a:p>
        </p:txBody>
      </p:sp>
      <p:sp>
        <p:nvSpPr>
          <p:cNvPr id="19"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Noto Serif"/>
            </a:endParaRPr>
          </a:p>
          <a:p>
            <a:pPr lvl="1" marL="864000" indent="-324000">
              <a:lnSpc>
                <a:spcPct val="100000"/>
              </a:lnSpc>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rgbClr val="ffffff"/>
              </a:solidFill>
              <a:effectLst/>
              <a:uFillTx/>
              <a:latin typeface="Noto Serif"/>
            </a:endParaRPr>
          </a:p>
          <a:p>
            <a:pPr lvl="2" marL="1296000" indent="-288000">
              <a:lnSpc>
                <a:spcPct val="100000"/>
              </a:lnSpc>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rgbClr val="ffffff"/>
              </a:solidFill>
              <a:effectLst/>
              <a:uFillTx/>
              <a:latin typeface="Noto Serif"/>
            </a:endParaRPr>
          </a:p>
          <a:p>
            <a:pPr lvl="3" marL="1728000" indent="-216000">
              <a:lnSpc>
                <a:spcPct val="100000"/>
              </a:lnSpc>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rgbClr val="ffffff"/>
              </a:solidFill>
              <a:effectLst/>
              <a:uFillTx/>
              <a:latin typeface="Noto Serif"/>
            </a:endParaRPr>
          </a:p>
          <a:p>
            <a:pPr lvl="4" marL="2160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en-US" sz="2000" strike="noStrike" u="none">
              <a:solidFill>
                <a:srgbClr val="ffffff"/>
              </a:solidFill>
              <a:effectLst/>
              <a:uFillTx/>
              <a:latin typeface="Noto Serif"/>
            </a:endParaRPr>
          </a:p>
          <a:p>
            <a:pPr lvl="5" marL="2592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en-US" sz="2000" strike="noStrike" u="none">
              <a:solidFill>
                <a:srgbClr val="ffffff"/>
              </a:solidFill>
              <a:effectLst/>
              <a:uFillTx/>
              <a:latin typeface="Noto Serif"/>
            </a:endParaRPr>
          </a:p>
          <a:p>
            <a:pPr lvl="6" marL="3024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en-US" sz="2000" strike="noStrike" u="none">
              <a:solidFill>
                <a:srgbClr val="ffffff"/>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1284120" y="1555560"/>
            <a:ext cx="6575400" cy="1359360"/>
          </a:xfrm>
          <a:prstGeom prst="rect">
            <a:avLst/>
          </a:prstGeom>
          <a:noFill/>
          <a:ln w="0">
            <a:noFill/>
          </a:ln>
        </p:spPr>
        <p:txBody>
          <a:bodyPr lIns="91440" rIns="91440" tIns="91440" bIns="91440" anchor="b">
            <a:noAutofit/>
          </a:bodyPr>
          <a:p>
            <a:pPr indent="0" algn="ctr">
              <a:lnSpc>
                <a:spcPct val="100000"/>
              </a:lnSpc>
              <a:buNone/>
              <a:tabLst>
                <a:tab algn="l" pos="0"/>
              </a:tabLst>
            </a:pPr>
            <a:r>
              <a:rPr b="1" lang="fr-FR" sz="6000" strike="noStrike" u="none">
                <a:solidFill>
                  <a:schemeClr val="accent1"/>
                </a:solidFill>
                <a:effectLst/>
                <a:uFillTx/>
                <a:latin typeface="Manrope"/>
                <a:ea typeface="Manrope"/>
              </a:rPr>
              <a:t>xx%</a:t>
            </a:r>
            <a:endParaRPr b="0" lang="en-US" sz="6000" strike="noStrike" u="none">
              <a:solidFill>
                <a:srgbClr val="ffffff"/>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21" name="Google Shape;47;p13"/>
          <p:cNvSpPr/>
          <p:nvPr/>
        </p:nvSpPr>
        <p:spPr>
          <a:xfrm>
            <a:off x="228600" y="136080"/>
            <a:ext cx="3499560" cy="4871160"/>
          </a:xfrm>
          <a:prstGeom prst="roundRect">
            <a:avLst>
              <a:gd name="adj" fmla="val 8403"/>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48;p13"/>
          <p:cNvSpPr/>
          <p:nvPr/>
        </p:nvSpPr>
        <p:spPr>
          <a:xfrm>
            <a:off x="383400" y="379080"/>
            <a:ext cx="3191400" cy="271080"/>
          </a:xfrm>
          <a:prstGeom prst="roundRect">
            <a:avLst>
              <a:gd name="adj" fmla="val 50000"/>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3" name="PlaceHolder 1"/>
          <p:cNvSpPr>
            <a:spLocks noGrp="1"/>
          </p:cNvSpPr>
          <p:nvPr>
            <p:ph type="title"/>
          </p:nvPr>
        </p:nvSpPr>
        <p:spPr>
          <a:xfrm>
            <a:off x="3979440" y="228600"/>
            <a:ext cx="444384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
        <p:nvSpPr>
          <p:cNvPr id="24" name="PlaceHolder 2"/>
          <p:cNvSpPr>
            <a:spLocks noGrp="1"/>
          </p:cNvSpPr>
          <p:nvPr>
            <p:ph type="title"/>
          </p:nvPr>
        </p:nvSpPr>
        <p:spPr>
          <a:xfrm>
            <a:off x="228600" y="92088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25" name="PlaceHolder 3"/>
          <p:cNvSpPr>
            <a:spLocks noGrp="1"/>
          </p:cNvSpPr>
          <p:nvPr>
            <p:ph type="title"/>
          </p:nvPr>
        </p:nvSpPr>
        <p:spPr>
          <a:xfrm>
            <a:off x="228600" y="142776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26" name="PlaceHolder 4"/>
          <p:cNvSpPr>
            <a:spLocks noGrp="1"/>
          </p:cNvSpPr>
          <p:nvPr>
            <p:ph type="title"/>
          </p:nvPr>
        </p:nvSpPr>
        <p:spPr>
          <a:xfrm>
            <a:off x="228600" y="193464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27" name="PlaceHolder 5"/>
          <p:cNvSpPr>
            <a:spLocks noGrp="1"/>
          </p:cNvSpPr>
          <p:nvPr>
            <p:ph type="title"/>
          </p:nvPr>
        </p:nvSpPr>
        <p:spPr>
          <a:xfrm>
            <a:off x="228600" y="244152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28" name="PlaceHolder 6"/>
          <p:cNvSpPr>
            <a:spLocks noGrp="1"/>
          </p:cNvSpPr>
          <p:nvPr>
            <p:ph type="title"/>
          </p:nvPr>
        </p:nvSpPr>
        <p:spPr>
          <a:xfrm>
            <a:off x="228600" y="294840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29" name="PlaceHolder 7"/>
          <p:cNvSpPr>
            <a:spLocks noGrp="1"/>
          </p:cNvSpPr>
          <p:nvPr>
            <p:ph type="title"/>
          </p:nvPr>
        </p:nvSpPr>
        <p:spPr>
          <a:xfrm>
            <a:off x="228600" y="345528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30" name="PlaceHolder 8"/>
          <p:cNvSpPr>
            <a:spLocks noGrp="1"/>
          </p:cNvSpPr>
          <p:nvPr>
            <p:ph type="title"/>
          </p:nvPr>
        </p:nvSpPr>
        <p:spPr>
          <a:xfrm>
            <a:off x="228600" y="396216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31" name="PlaceHolder 9"/>
          <p:cNvSpPr>
            <a:spLocks noGrp="1"/>
          </p:cNvSpPr>
          <p:nvPr>
            <p:ph type="title"/>
          </p:nvPr>
        </p:nvSpPr>
        <p:spPr>
          <a:xfrm>
            <a:off x="228600" y="4469040"/>
            <a:ext cx="502200" cy="445320"/>
          </a:xfrm>
          <a:prstGeom prst="rect">
            <a:avLst/>
          </a:prstGeom>
          <a:noFill/>
          <a:ln w="0">
            <a:noFill/>
          </a:ln>
        </p:spPr>
        <p:txBody>
          <a:bodyPr lIns="91440" rIns="91440" tIns="91440" bIns="91440" anchor="ctr">
            <a:noAutofit/>
          </a:bodyPr>
          <a:p>
            <a:pPr indent="0" algn="r">
              <a:lnSpc>
                <a:spcPct val="100000"/>
              </a:lnSpc>
              <a:buNone/>
              <a:tabLst>
                <a:tab algn="l" pos="0"/>
              </a:tabLst>
            </a:pPr>
            <a:r>
              <a:rPr b="1" lang="fr-FR" sz="1800" strike="noStrike" u="none">
                <a:solidFill>
                  <a:schemeClr val="dk1"/>
                </a:solidFill>
                <a:effectLst/>
                <a:uFillTx/>
                <a:latin typeface="Manrope"/>
                <a:ea typeface="Manrope"/>
              </a:rPr>
              <a:t>xx%</a:t>
            </a:r>
            <a:endParaRPr b="0" lang="en-US" sz="1800" strike="noStrike" u="none">
              <a:solidFill>
                <a:srgbClr val="ffffff"/>
              </a:solidFill>
              <a:effectLst/>
              <a:uFillTx/>
              <a:latin typeface="Noto Serif"/>
            </a:endParaRPr>
          </a:p>
        </p:txBody>
      </p:sp>
      <p:sp>
        <p:nvSpPr>
          <p:cNvPr id="32" name="Google Shape;74;p13"/>
          <p:cNvSpPr/>
          <p:nvPr/>
        </p:nvSpPr>
        <p:spPr>
          <a:xfrm>
            <a:off x="3805200" y="136080"/>
            <a:ext cx="5202000" cy="48711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33" name="Google Shape;76;p14"/>
          <p:cNvSpPr/>
          <p:nvPr/>
        </p:nvSpPr>
        <p:spPr>
          <a:xfrm>
            <a:off x="118440" y="146520"/>
            <a:ext cx="8906760" cy="119124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4" name="PlaceHolder 1"/>
          <p:cNvSpPr>
            <a:spLocks noGrp="1"/>
          </p:cNvSpPr>
          <p:nvPr>
            <p:ph type="title"/>
          </p:nvPr>
        </p:nvSpPr>
        <p:spPr>
          <a:xfrm>
            <a:off x="720000" y="45612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
        <p:nvSpPr>
          <p:cNvPr id="35"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Noto Serif"/>
            </a:endParaRPr>
          </a:p>
          <a:p>
            <a:pPr lvl="1" marL="864000" indent="-324000">
              <a:lnSpc>
                <a:spcPct val="100000"/>
              </a:lnSpc>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rgbClr val="ffffff"/>
              </a:solidFill>
              <a:effectLst/>
              <a:uFillTx/>
              <a:latin typeface="Noto Serif"/>
            </a:endParaRPr>
          </a:p>
          <a:p>
            <a:pPr lvl="2" marL="1296000" indent="-288000">
              <a:lnSpc>
                <a:spcPct val="100000"/>
              </a:lnSpc>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rgbClr val="ffffff"/>
              </a:solidFill>
              <a:effectLst/>
              <a:uFillTx/>
              <a:latin typeface="Noto Serif"/>
            </a:endParaRPr>
          </a:p>
          <a:p>
            <a:pPr lvl="3" marL="1728000" indent="-216000">
              <a:lnSpc>
                <a:spcPct val="100000"/>
              </a:lnSpc>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rgbClr val="ffffff"/>
              </a:solidFill>
              <a:effectLst/>
              <a:uFillTx/>
              <a:latin typeface="Noto Serif"/>
            </a:endParaRPr>
          </a:p>
          <a:p>
            <a:pPr lvl="4" marL="2160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en-US" sz="2000" strike="noStrike" u="none">
              <a:solidFill>
                <a:srgbClr val="ffffff"/>
              </a:solidFill>
              <a:effectLst/>
              <a:uFillTx/>
              <a:latin typeface="Noto Serif"/>
            </a:endParaRPr>
          </a:p>
          <a:p>
            <a:pPr lvl="5" marL="2592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en-US" sz="2000" strike="noStrike" u="none">
              <a:solidFill>
                <a:srgbClr val="ffffff"/>
              </a:solidFill>
              <a:effectLst/>
              <a:uFillTx/>
              <a:latin typeface="Noto Serif"/>
            </a:endParaRPr>
          </a:p>
          <a:p>
            <a:pPr lvl="6" marL="3024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en-US" sz="2000" strike="noStrike" u="none">
              <a:solidFill>
                <a:srgbClr val="ffffff"/>
              </a:solidFill>
              <a:effectLst/>
              <a:uFillTx/>
              <a:latin typeface="Noto Serif"/>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36" name="Google Shape;80;p15"/>
          <p:cNvSpPr/>
          <p:nvPr/>
        </p:nvSpPr>
        <p:spPr>
          <a:xfrm>
            <a:off x="118440" y="146520"/>
            <a:ext cx="8906760" cy="119124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7" name="PlaceHolder 1"/>
          <p:cNvSpPr>
            <a:spLocks noGrp="1"/>
          </p:cNvSpPr>
          <p:nvPr>
            <p:ph type="title"/>
          </p:nvPr>
        </p:nvSpPr>
        <p:spPr>
          <a:xfrm>
            <a:off x="720000" y="45864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38" name="Google Shape;89;p16"/>
          <p:cNvSpPr/>
          <p:nvPr/>
        </p:nvSpPr>
        <p:spPr>
          <a:xfrm>
            <a:off x="118440" y="146520"/>
            <a:ext cx="8906760" cy="119124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39" name="PlaceHolder 1"/>
          <p:cNvSpPr>
            <a:spLocks noGrp="1"/>
          </p:cNvSpPr>
          <p:nvPr>
            <p:ph type="title"/>
          </p:nvPr>
        </p:nvSpPr>
        <p:spPr>
          <a:xfrm>
            <a:off x="720000" y="45864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700" strike="noStrike" u="none">
                <a:solidFill>
                  <a:schemeClr val="dk1"/>
                </a:solidFill>
                <a:effectLst/>
                <a:uFillTx/>
                <a:latin typeface="Arial"/>
              </a:rPr>
              <a:t>Click to edit the title text format</a:t>
            </a:r>
            <a:endParaRPr b="0" lang="en-US" sz="2700" strike="noStrike" u="none">
              <a:solidFill>
                <a:srgbClr val="ffffff"/>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347920" y="830160"/>
            <a:ext cx="4447440" cy="822960"/>
          </a:xfrm>
          <a:prstGeom prst="rect">
            <a:avLst/>
          </a:prstGeom>
          <a:noFill/>
          <a:ln w="0">
            <a:noFill/>
          </a:ln>
        </p:spPr>
        <p:txBody>
          <a:bodyPr lIns="91440" rIns="91440" tIns="91440" bIns="91440" anchor="b">
            <a:noAutofit/>
          </a:bodyPr>
          <a:p>
            <a:pPr indent="0">
              <a:lnSpc>
                <a:spcPct val="100000"/>
              </a:lnSpc>
              <a:buNone/>
              <a:tabLst>
                <a:tab algn="l" pos="0"/>
              </a:tabLst>
            </a:pPr>
            <a:r>
              <a:rPr b="0" lang="fr-FR" sz="4500" strike="noStrike" u="none">
                <a:solidFill>
                  <a:schemeClr val="dk1"/>
                </a:solidFill>
                <a:effectLst/>
                <a:uFillTx/>
                <a:latin typeface="Arial"/>
              </a:rPr>
              <a:t>Click to edit the title text format</a:t>
            </a:r>
            <a:endParaRPr b="0" lang="en-US" sz="4500" strike="noStrike" u="none">
              <a:solidFill>
                <a:srgbClr val="ffffff"/>
              </a:solidFill>
              <a:effectLst/>
              <a:uFillTx/>
              <a:latin typeface="Noto Serif"/>
            </a:endParaRPr>
          </a:p>
        </p:txBody>
      </p:sp>
      <p:sp>
        <p:nvSpPr>
          <p:cNvPr id="41" name="Google Shape;106;p17"/>
          <p:cNvSpPr/>
          <p:nvPr/>
        </p:nvSpPr>
        <p:spPr>
          <a:xfrm>
            <a:off x="435600" y="3666960"/>
            <a:ext cx="8272080" cy="1044000"/>
          </a:xfrm>
          <a:prstGeom prst="roundRect">
            <a:avLst>
              <a:gd name="adj" fmla="val 17679"/>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2" name="Google Shape;107;p17"/>
          <p:cNvSpPr/>
          <p:nvPr/>
        </p:nvSpPr>
        <p:spPr>
          <a:xfrm>
            <a:off x="2099160" y="3710160"/>
            <a:ext cx="4944960" cy="555480"/>
          </a:xfrm>
          <a:prstGeom prst="rect">
            <a:avLst/>
          </a:prstGeom>
          <a:noFill/>
          <a:ln w="0">
            <a:noFill/>
          </a:ln>
        </p:spPr>
        <p:style>
          <a:lnRef idx="0"/>
          <a:fillRef idx="0"/>
          <a:effectRef idx="0"/>
          <a:fontRef idx="minor"/>
        </p:style>
        <p:txBody>
          <a:bodyPr lIns="90000" rIns="90000" tIns="91440" bIns="91440" anchor="t">
            <a:noAutofit/>
          </a:bodyPr>
          <a:p>
            <a:pPr algn="ctr" defTabSz="914400">
              <a:lnSpc>
                <a:spcPct val="115000"/>
              </a:lnSpc>
              <a:tabLst>
                <a:tab algn="l" pos="0"/>
              </a:tabLst>
            </a:pPr>
            <a:r>
              <a:rPr b="0" lang="en" sz="1200" strike="noStrike" u="none">
                <a:solidFill>
                  <a:schemeClr val="dk1"/>
                </a:solidFill>
                <a:effectLst/>
                <a:uFillTx/>
                <a:latin typeface="Funnel Sans"/>
                <a:ea typeface="Funnel Sans"/>
              </a:rPr>
              <a:t>CREDITS: This presentation template was created by </a:t>
            </a:r>
            <a:r>
              <a:rPr b="1" lang="en" sz="1200" strike="noStrike" u="sng">
                <a:solidFill>
                  <a:schemeClr val="hlink"/>
                </a:solidFill>
                <a:effectLst/>
                <a:uFillTx/>
                <a:latin typeface="Funnel Sans"/>
                <a:ea typeface="Funnel Sans"/>
                <a:hlinkClick r:id="rId2"/>
              </a:rPr>
              <a:t>Slidesgo</a:t>
            </a:r>
            <a:r>
              <a:rPr b="1" lang="en" sz="1200" strike="noStrike" u="none">
                <a:solidFill>
                  <a:schemeClr val="dk1"/>
                </a:solidFill>
                <a:effectLst/>
                <a:uFillTx/>
                <a:latin typeface="Funnel Sans"/>
                <a:ea typeface="Funnel Sans"/>
              </a:rPr>
              <a:t>,</a:t>
            </a:r>
            <a:r>
              <a:rPr b="0" lang="en" sz="1200" strike="noStrike" u="none">
                <a:solidFill>
                  <a:schemeClr val="dk1"/>
                </a:solidFill>
                <a:effectLst/>
                <a:uFillTx/>
                <a:latin typeface="Funnel Sans"/>
                <a:ea typeface="Funnel Sans"/>
              </a:rPr>
              <a:t> and includes icons, infographics &amp; images by </a:t>
            </a:r>
            <a:r>
              <a:rPr b="1" lang="en" sz="1200" strike="noStrike" u="sng">
                <a:solidFill>
                  <a:schemeClr val="dk1"/>
                </a:solidFill>
                <a:effectLst/>
                <a:uFillTx/>
                <a:latin typeface="Funnel Sans"/>
                <a:ea typeface="Funnel Sans"/>
                <a:hlinkClick r:id="rId3"/>
              </a:rPr>
              <a:t>Freepik</a:t>
            </a:r>
            <a:r>
              <a:rPr b="1" lang="en" sz="1200" strike="noStrike" u="sng">
                <a:solidFill>
                  <a:schemeClr val="dk1"/>
                </a:solidFill>
                <a:effectLst/>
                <a:uFillTx/>
                <a:latin typeface="Funnel Sans"/>
                <a:ea typeface="Funnel Sans"/>
              </a:rPr>
              <a:t> </a:t>
            </a:r>
            <a:endParaRPr b="0" lang="en-US" sz="1200" strike="noStrike" u="none">
              <a:solidFill>
                <a:srgbClr val="ffffff"/>
              </a:solidFill>
              <a:effectLst/>
              <a:uFillTx/>
              <a:latin typeface="Noto Serif"/>
            </a:endParaRPr>
          </a:p>
        </p:txBody>
      </p:sp>
      <p:sp>
        <p:nvSpPr>
          <p:cNvPr id="43" name="Google Shape;108;p17"/>
          <p:cNvSpPr/>
          <p:nvPr/>
        </p:nvSpPr>
        <p:spPr>
          <a:xfrm>
            <a:off x="435600" y="557640"/>
            <a:ext cx="8272080" cy="2968560"/>
          </a:xfrm>
          <a:prstGeom prst="roundRect">
            <a:avLst>
              <a:gd name="adj" fmla="val 7654"/>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4" name="Google Shape;118;p22"/>
          <p:cNvSpPr/>
          <p:nvPr/>
        </p:nvSpPr>
        <p:spPr>
          <a:xfrm>
            <a:off x="0" y="-10440"/>
            <a:ext cx="9143280" cy="1180080"/>
          </a:xfrm>
          <a:prstGeom prst="rect">
            <a:avLst/>
          </a:prstGeom>
          <a:solidFill>
            <a:schemeClr val="accen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PlaceHolder 1"/>
          <p:cNvSpPr>
            <a:spLocks noGrp="1"/>
          </p:cNvSpPr>
          <p:nvPr>
            <p:ph type="title"/>
          </p:nvPr>
        </p:nvSpPr>
        <p:spPr>
          <a:xfrm>
            <a:off x="713160" y="539640"/>
            <a:ext cx="771696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200" strike="noStrike" u="none">
                <a:solidFill>
                  <a:schemeClr val="dk1"/>
                </a:solidFill>
                <a:effectLst/>
                <a:uFillTx/>
                <a:latin typeface="Arial"/>
              </a:rPr>
              <a:t>Click to edit the title text format</a:t>
            </a:r>
            <a:endParaRPr b="0" lang="en-US" sz="2200" strike="noStrike" u="none">
              <a:solidFill>
                <a:srgbClr val="000000"/>
              </a:solidFill>
              <a:effectLst/>
              <a:uFillTx/>
              <a:latin typeface="Noto Serif"/>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6" name="Google Shape;121;p23"/>
          <p:cNvSpPr/>
          <p:nvPr/>
        </p:nvSpPr>
        <p:spPr>
          <a:xfrm>
            <a:off x="0" y="-10440"/>
            <a:ext cx="9143280" cy="1180080"/>
          </a:xfrm>
          <a:prstGeom prst="rect">
            <a:avLst/>
          </a:prstGeom>
          <a:solidFill>
            <a:schemeClr val="accen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28640" y="539640"/>
            <a:ext cx="334692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200" strike="noStrike" u="none">
                <a:solidFill>
                  <a:schemeClr val="dk1"/>
                </a:solidFill>
                <a:effectLst/>
                <a:uFillTx/>
                <a:latin typeface="Arial"/>
              </a:rPr>
              <a:t>Click to edit the title text format</a:t>
            </a:r>
            <a:endParaRPr b="0" lang="en-US" sz="2200" strike="noStrike" u="none">
              <a:solidFill>
                <a:srgbClr val="000000"/>
              </a:solidFill>
              <a:effectLst/>
              <a:uFillTx/>
              <a:latin typeface="Noto Serif"/>
            </a:endParaRPr>
          </a:p>
        </p:txBody>
      </p:sp>
      <p:sp>
        <p:nvSpPr>
          <p:cNvPr id="48" name="PlaceHolder 2"/>
          <p:cNvSpPr>
            <a:spLocks noGrp="1"/>
          </p:cNvSpPr>
          <p:nvPr>
            <p:ph type="title"/>
          </p:nvPr>
        </p:nvSpPr>
        <p:spPr>
          <a:xfrm>
            <a:off x="4977720" y="539640"/>
            <a:ext cx="345780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200" strike="noStrike" u="none">
                <a:solidFill>
                  <a:schemeClr val="dk1"/>
                </a:solidFill>
                <a:effectLst/>
                <a:uFillTx/>
                <a:latin typeface="Arial"/>
              </a:rPr>
              <a:t>Click to edit the title text format</a:t>
            </a:r>
            <a:endParaRPr b="0" lang="en-US" sz="2200" strike="noStrike" u="non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Google Shape;128;p24" descr=""/>
          <p:cNvPicPr/>
          <p:nvPr/>
        </p:nvPicPr>
        <p:blipFill>
          <a:blip r:embed="rId1"/>
          <a:srcRect l="0" t="13906" r="6550" b="7347"/>
          <a:stretch/>
        </p:blipFill>
        <p:spPr>
          <a:xfrm>
            <a:off x="0" y="0"/>
            <a:ext cx="9143280" cy="5142960"/>
          </a:xfrm>
          <a:prstGeom prst="rect">
            <a:avLst/>
          </a:prstGeom>
          <a:noFill/>
          <a:ln w="0">
            <a:noFill/>
          </a:ln>
        </p:spPr>
      </p:pic>
      <p:grpSp>
        <p:nvGrpSpPr>
          <p:cNvPr id="50" name="Google Shape;129;p24"/>
          <p:cNvGrpSpPr/>
          <p:nvPr/>
        </p:nvGrpSpPr>
        <p:grpSpPr>
          <a:xfrm>
            <a:off x="228600" y="228600"/>
            <a:ext cx="8672040" cy="4656600"/>
            <a:chOff x="228600" y="228600"/>
            <a:chExt cx="8672040" cy="4656600"/>
          </a:xfrm>
        </p:grpSpPr>
        <p:sp>
          <p:nvSpPr>
            <p:cNvPr id="51" name="Google Shape;130;p24"/>
            <p:cNvSpPr/>
            <p:nvPr/>
          </p:nvSpPr>
          <p:spPr>
            <a:xfrm>
              <a:off x="2050200" y="257760"/>
              <a:ext cx="6850440" cy="3776760"/>
            </a:xfrm>
            <a:prstGeom prst="roundRect">
              <a:avLst>
                <a:gd name="adj" fmla="val 7195"/>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131;p24"/>
            <p:cNvSpPr/>
            <p:nvPr/>
          </p:nvSpPr>
          <p:spPr>
            <a:xfrm>
              <a:off x="2050200" y="4174560"/>
              <a:ext cx="6850440" cy="710280"/>
            </a:xfrm>
            <a:prstGeom prst="roundRect">
              <a:avLst>
                <a:gd name="adj" fmla="val 24504"/>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 name="Google Shape;132;p24"/>
            <p:cNvGrpSpPr/>
            <p:nvPr/>
          </p:nvGrpSpPr>
          <p:grpSpPr>
            <a:xfrm>
              <a:off x="228600" y="228600"/>
              <a:ext cx="1673280" cy="4656600"/>
              <a:chOff x="228600" y="228600"/>
              <a:chExt cx="1673280" cy="4656600"/>
            </a:xfrm>
          </p:grpSpPr>
          <p:sp>
            <p:nvSpPr>
              <p:cNvPr id="54" name="Google Shape;133;p24"/>
              <p:cNvSpPr/>
              <p:nvPr/>
            </p:nvSpPr>
            <p:spPr>
              <a:xfrm>
                <a:off x="228600" y="228600"/>
                <a:ext cx="1673280" cy="4656600"/>
              </a:xfrm>
              <a:prstGeom prst="roundRect">
                <a:avLst>
                  <a:gd name="adj" fmla="val 13823"/>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55" name="Google Shape;134;p24"/>
              <p:cNvSpPr/>
              <p:nvPr/>
            </p:nvSpPr>
            <p:spPr>
              <a:xfrm>
                <a:off x="313560" y="334440"/>
                <a:ext cx="1497960" cy="236160"/>
              </a:xfrm>
              <a:prstGeom prst="roundRect">
                <a:avLst>
                  <a:gd name="adj" fmla="val 50000"/>
                </a:avLst>
              </a:prstGeom>
              <a:solidFill>
                <a:schemeClr val="lt2"/>
              </a:solidFill>
              <a:ln w="9525">
                <a:solidFill>
                  <a:srgbClr val="00ffa4"/>
                </a:solidFill>
                <a:round/>
              </a:ln>
            </p:spPr>
            <p:style>
              <a:lnRef idx="0"/>
              <a:fillRef idx="0"/>
              <a:effectRef idx="0"/>
              <a:fontRef idx="minor"/>
            </p:style>
            <p:txBody>
              <a:bodyPr lIns="90000" rIns="90000" tIns="83520" bIns="8352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6" name="PlaceHolder 1"/>
          <p:cNvSpPr>
            <a:spLocks noGrp="1"/>
          </p:cNvSpPr>
          <p:nvPr>
            <p:ph type="title"/>
          </p:nvPr>
        </p:nvSpPr>
        <p:spPr>
          <a:xfrm>
            <a:off x="2190600" y="2571840"/>
            <a:ext cx="4494960" cy="1494720"/>
          </a:xfrm>
          <a:prstGeom prst="rect">
            <a:avLst/>
          </a:prstGeom>
          <a:noFill/>
          <a:ln w="0">
            <a:noFill/>
          </a:ln>
          <a:effectLst>
            <a:outerShdw dist="19080" dir="5400000" blurRad="57240" rotWithShape="0">
              <a:srgbClr val="000000">
                <a:alpha val="50000"/>
              </a:srgbClr>
            </a:outerShdw>
          </a:effectLst>
        </p:spPr>
        <p:txBody>
          <a:bodyPr lIns="91440" rIns="91440" tIns="91440" bIns="91440" anchor="b">
            <a:normAutofit/>
          </a:bodyPr>
          <a:p>
            <a:pPr indent="0">
              <a:lnSpc>
                <a:spcPct val="100000"/>
              </a:lnSpc>
              <a:buNone/>
              <a:tabLst>
                <a:tab algn="l" pos="0"/>
              </a:tabLst>
            </a:pPr>
            <a:r>
              <a:rPr b="1" lang="en-US" sz="4200" strike="noStrike" u="none">
                <a:solidFill>
                  <a:schemeClr val="dk1"/>
                </a:solidFill>
                <a:effectLst/>
                <a:uFillTx/>
                <a:latin typeface="Manrope"/>
                <a:ea typeface="Manrope"/>
              </a:rPr>
              <a:t>P2P Messenger</a:t>
            </a:r>
            <a:endParaRPr b="0" lang="en-US" sz="4200" strike="noStrike" u="none">
              <a:solidFill>
                <a:srgbClr val="ffffff"/>
              </a:solidFill>
              <a:effectLst/>
              <a:uFillTx/>
              <a:latin typeface="Noto Serif"/>
            </a:endParaRPr>
          </a:p>
        </p:txBody>
      </p:sp>
      <p:sp>
        <p:nvSpPr>
          <p:cNvPr id="57" name="PlaceHolder 2"/>
          <p:cNvSpPr>
            <a:spLocks noGrp="1"/>
          </p:cNvSpPr>
          <p:nvPr>
            <p:ph type="subTitle"/>
          </p:nvPr>
        </p:nvSpPr>
        <p:spPr>
          <a:xfrm>
            <a:off x="2190600" y="4324320"/>
            <a:ext cx="5799960" cy="475560"/>
          </a:xfrm>
          <a:prstGeom prst="rect">
            <a:avLst/>
          </a:prstGeom>
          <a:noFill/>
          <a:ln w="0">
            <a:noFill/>
          </a:ln>
          <a:effectLst>
            <a:outerShdw dist="19080" dir="5400000" blurRad="57240" rotWithShape="0">
              <a:srgbClr val="000000">
                <a:alpha val="50000"/>
              </a:srgbClr>
            </a:outerShdw>
          </a:effectLst>
        </p:spPr>
        <p:txBody>
          <a:bodyPr lIns="91440" rIns="91440" tIns="91440" bIns="91440" anchor="t">
            <a:normAutofit/>
          </a:bodyPr>
          <a:p>
            <a:pPr indent="0">
              <a:lnSpc>
                <a:spcPct val="115000"/>
              </a:lnSpc>
              <a:buNone/>
              <a:tabLst>
                <a:tab algn="l" pos="0"/>
              </a:tabLst>
            </a:pPr>
            <a:r>
              <a:rPr b="0" lang="en-US" sz="1600" strike="noStrike" u="none">
                <a:solidFill>
                  <a:schemeClr val="dk1"/>
                </a:solidFill>
                <a:effectLst/>
                <a:uFillTx/>
                <a:latin typeface="Funnel Sans Light"/>
                <a:ea typeface="Funnel Sans Light"/>
              </a:rPr>
              <a:t>A Secure and Decentralized Chat</a:t>
            </a:r>
            <a:endParaRPr b="0" lang="en-US" sz="16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Google Shape;280;p31" descr=""/>
          <p:cNvPicPr/>
          <p:nvPr/>
        </p:nvPicPr>
        <p:blipFill>
          <a:blip r:embed="rId1"/>
          <a:srcRect l="13798" t="0" r="1556" b="0"/>
          <a:stretch/>
        </p:blipFill>
        <p:spPr>
          <a:xfrm>
            <a:off x="5659200" y="0"/>
            <a:ext cx="3484080" cy="5142960"/>
          </a:xfrm>
          <a:prstGeom prst="rect">
            <a:avLst/>
          </a:prstGeom>
          <a:noFill/>
          <a:ln w="0">
            <a:noFill/>
          </a:ln>
        </p:spPr>
      </p:pic>
      <p:grpSp>
        <p:nvGrpSpPr>
          <p:cNvPr id="59" name="Google Shape;281;p31"/>
          <p:cNvGrpSpPr/>
          <p:nvPr/>
        </p:nvGrpSpPr>
        <p:grpSpPr>
          <a:xfrm>
            <a:off x="118440" y="585360"/>
            <a:ext cx="8907120" cy="4466520"/>
            <a:chOff x="118440" y="585360"/>
            <a:chExt cx="8907120" cy="4466520"/>
          </a:xfrm>
        </p:grpSpPr>
        <p:sp>
          <p:nvSpPr>
            <p:cNvPr id="60" name="Google Shape;282;p31"/>
            <p:cNvSpPr/>
            <p:nvPr/>
          </p:nvSpPr>
          <p:spPr>
            <a:xfrm>
              <a:off x="118440" y="585360"/>
              <a:ext cx="5191560" cy="149076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1" name="Google Shape;283;p31"/>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2" name="PlaceHolder 1"/>
          <p:cNvSpPr>
            <a:spLocks noGrp="1"/>
          </p:cNvSpPr>
          <p:nvPr>
            <p:ph type="title"/>
          </p:nvPr>
        </p:nvSpPr>
        <p:spPr>
          <a:xfrm>
            <a:off x="228600" y="600120"/>
            <a:ext cx="4723560" cy="139932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Introduction</a:t>
            </a:r>
            <a:endParaRPr b="0" lang="en-US" sz="2700" strike="noStrike" u="none">
              <a:solidFill>
                <a:srgbClr val="ffffff"/>
              </a:solidFill>
              <a:effectLst/>
              <a:uFillTx/>
              <a:latin typeface="Noto Serif"/>
            </a:endParaRPr>
          </a:p>
        </p:txBody>
      </p:sp>
      <p:sp>
        <p:nvSpPr>
          <p:cNvPr id="63" name="PlaceHolder 2"/>
          <p:cNvSpPr>
            <a:spLocks noGrp="1"/>
          </p:cNvSpPr>
          <p:nvPr>
            <p:ph type="subTitle"/>
          </p:nvPr>
        </p:nvSpPr>
        <p:spPr>
          <a:xfrm>
            <a:off x="228600" y="2314440"/>
            <a:ext cx="4028400" cy="2094840"/>
          </a:xfrm>
          <a:prstGeom prst="rect">
            <a:avLst/>
          </a:prstGeom>
          <a:noFill/>
          <a:ln w="0">
            <a:noFill/>
          </a:ln>
        </p:spPr>
        <p:txBody>
          <a:bodyPr lIns="91440" rIns="91440" tIns="91440" bIns="91440" anchor="b">
            <a:normAutofit lnSpcReduction="9999"/>
          </a:bodyPr>
          <a:p>
            <a:pPr indent="0">
              <a:lnSpc>
                <a:spcPct val="120000"/>
              </a:lnSpc>
              <a:buNone/>
              <a:tabLst>
                <a:tab algn="l" pos="0"/>
              </a:tabLst>
            </a:pPr>
            <a:r>
              <a:rPr b="0" lang="en-US" sz="1200" strike="noStrike" u="none">
                <a:solidFill>
                  <a:schemeClr val="dk1"/>
                </a:solidFill>
                <a:effectLst/>
                <a:uFillTx/>
                <a:latin typeface="Funnel Sans"/>
                <a:ea typeface="Funnel Sans"/>
              </a:rPr>
              <a:t>This presentation introduces a </a:t>
            </a:r>
            <a:r>
              <a:rPr b="1" lang="en-US" sz="1200" strike="noStrike" u="none">
                <a:solidFill>
                  <a:schemeClr val="dk1"/>
                </a:solidFill>
                <a:effectLst/>
                <a:uFillTx/>
                <a:latin typeface="Funnel Sans"/>
                <a:ea typeface="Funnel Sans"/>
              </a:rPr>
              <a:t>secure P2P messenger</a:t>
            </a:r>
            <a:r>
              <a:rPr b="0" lang="en-US" sz="1200" strike="noStrike" u="none">
                <a:solidFill>
                  <a:schemeClr val="dk1"/>
                </a:solidFill>
                <a:effectLst/>
                <a:uFillTx/>
                <a:latin typeface="Funnel Sans"/>
                <a:ea typeface="Funnel Sans"/>
              </a:rPr>
              <a:t> designed for encrypted, serverless communication on local networks. The app emphasizes </a:t>
            </a:r>
            <a:r>
              <a:rPr b="1" lang="en-US" sz="1200" strike="noStrike" u="none">
                <a:solidFill>
                  <a:schemeClr val="dk1"/>
                </a:solidFill>
                <a:effectLst/>
                <a:uFillTx/>
                <a:latin typeface="Funnel Sans"/>
                <a:ea typeface="Funnel Sans"/>
              </a:rPr>
              <a:t>user privacy</a:t>
            </a:r>
            <a:r>
              <a:rPr b="0" lang="en-US" sz="1200" strike="noStrike" u="none">
                <a:solidFill>
                  <a:schemeClr val="dk1"/>
                </a:solidFill>
                <a:effectLst/>
                <a:uFillTx/>
                <a:latin typeface="Funnel Sans"/>
                <a:ea typeface="Funnel Sans"/>
              </a:rPr>
              <a:t> by eliminating central servers, enabling direct peer communication with RSA encryption. We will cover the problem with traditional chat systems, technology choices, architecture, and core functionalities that define this terminal chat application.</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4" name="Google Shape;224;p28"/>
          <p:cNvGrpSpPr/>
          <p:nvPr/>
        </p:nvGrpSpPr>
        <p:grpSpPr>
          <a:xfrm>
            <a:off x="118440" y="1505520"/>
            <a:ext cx="8907120" cy="3546360"/>
            <a:chOff x="118440" y="1505520"/>
            <a:chExt cx="8907120" cy="3546360"/>
          </a:xfrm>
        </p:grpSpPr>
        <p:sp>
          <p:nvSpPr>
            <p:cNvPr id="65"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66"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7"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Issues with Centralized Chat</a:t>
            </a:r>
            <a:endParaRPr b="0" lang="en-US" sz="2700" strike="noStrike" u="none">
              <a:solidFill>
                <a:srgbClr val="ffffff"/>
              </a:solidFill>
              <a:effectLst/>
              <a:uFillTx/>
              <a:latin typeface="Noto Serif"/>
            </a:endParaRPr>
          </a:p>
        </p:txBody>
      </p:sp>
      <p:sp>
        <p:nvSpPr>
          <p:cNvPr id="68"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Most chat applications depend on </a:t>
            </a:r>
            <a:r>
              <a:rPr b="0" i="1" lang="en-US" sz="1200" strike="noStrike" u="none">
                <a:solidFill>
                  <a:schemeClr val="dk1"/>
                </a:solidFill>
                <a:effectLst/>
                <a:uFillTx/>
                <a:latin typeface="Funnel Sans"/>
                <a:ea typeface="Funnel Sans"/>
              </a:rPr>
              <a:t>central servers</a:t>
            </a:r>
            <a:r>
              <a:rPr b="0" lang="en-US" sz="1200" strike="noStrike" u="none">
                <a:solidFill>
                  <a:schemeClr val="dk1"/>
                </a:solidFill>
                <a:effectLst/>
                <a:uFillTx/>
                <a:latin typeface="Funnel Sans"/>
                <a:ea typeface="Funnel Sans"/>
              </a:rPr>
              <a:t>, which create single points of failure and present major </a:t>
            </a:r>
            <a:r>
              <a:rPr b="1" lang="en-US" sz="1200" strike="noStrike" u="none">
                <a:solidFill>
                  <a:schemeClr val="dk1"/>
                </a:solidFill>
                <a:effectLst/>
                <a:uFillTx/>
                <a:latin typeface="Funnel Sans"/>
                <a:ea typeface="Funnel Sans"/>
              </a:rPr>
              <a:t>privacy and security risks</a:t>
            </a:r>
            <a:r>
              <a:rPr b="0" lang="en-US" sz="1200" strike="noStrike" u="none">
                <a:solidFill>
                  <a:schemeClr val="dk1"/>
                </a:solidFill>
                <a:effectLst/>
                <a:uFillTx/>
                <a:latin typeface="Funnel Sans"/>
                <a:ea typeface="Funnel Sans"/>
              </a:rPr>
              <a:t> since user data is stored on company servers. These centralized models expose sensitive conversations to data breaches or unauthorized access, reducing users control over their own information.</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9" name="Google Shape;224;p28"/>
          <p:cNvGrpSpPr/>
          <p:nvPr/>
        </p:nvGrpSpPr>
        <p:grpSpPr>
          <a:xfrm>
            <a:off x="118440" y="1505520"/>
            <a:ext cx="8907120" cy="3546360"/>
            <a:chOff x="118440" y="1505520"/>
            <a:chExt cx="8907120" cy="3546360"/>
          </a:xfrm>
        </p:grpSpPr>
        <p:sp>
          <p:nvSpPr>
            <p:cNvPr id="70"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1"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2"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P2P Messenger Advantages</a:t>
            </a:r>
            <a:endParaRPr b="0" lang="en-US" sz="2700" strike="noStrike" u="none">
              <a:solidFill>
                <a:srgbClr val="ffffff"/>
              </a:solidFill>
              <a:effectLst/>
              <a:uFillTx/>
              <a:latin typeface="Noto Serif"/>
            </a:endParaRPr>
          </a:p>
        </p:txBody>
      </p:sp>
      <p:sp>
        <p:nvSpPr>
          <p:cNvPr id="73"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Our solution is a </a:t>
            </a:r>
            <a:r>
              <a:rPr b="1" lang="en-US" sz="1200" strike="noStrike" u="none">
                <a:solidFill>
                  <a:schemeClr val="dk1"/>
                </a:solidFill>
                <a:effectLst/>
                <a:uFillTx/>
                <a:latin typeface="Funnel Sans"/>
                <a:ea typeface="Funnel Sans"/>
              </a:rPr>
              <a:t>fully decentralized P2P messenger</a:t>
            </a:r>
            <a:r>
              <a:rPr b="0" lang="en-US" sz="1200" strike="noStrike" u="none">
                <a:solidFill>
                  <a:schemeClr val="dk1"/>
                </a:solidFill>
                <a:effectLst/>
                <a:uFillTx/>
                <a:latin typeface="Funnel Sans"/>
                <a:ea typeface="Funnel Sans"/>
              </a:rPr>
              <a:t> that uses direct, encrypted communication without servers. It provides </a:t>
            </a:r>
            <a:r>
              <a:rPr b="1" lang="en-US" sz="1200" strike="noStrike" u="none">
                <a:solidFill>
                  <a:schemeClr val="dk1"/>
                </a:solidFill>
                <a:effectLst/>
                <a:uFillTx/>
                <a:latin typeface="Funnel Sans"/>
                <a:ea typeface="Funnel Sans"/>
              </a:rPr>
              <a:t>end-to-end encryption</a:t>
            </a:r>
            <a:r>
              <a:rPr b="0" lang="en-US" sz="1200" strike="noStrike" u="none">
                <a:solidFill>
                  <a:schemeClr val="dk1"/>
                </a:solidFill>
                <a:effectLst/>
                <a:uFillTx/>
                <a:latin typeface="Funnel Sans"/>
                <a:ea typeface="Funnel Sans"/>
              </a:rPr>
              <a:t> on a local network, ensuring messages remain private. Users gain total control over conversations with </a:t>
            </a:r>
            <a:r>
              <a:rPr b="1" lang="en-US" sz="1200" strike="noStrike" u="none">
                <a:solidFill>
                  <a:schemeClr val="dk1"/>
                </a:solidFill>
                <a:effectLst/>
                <a:uFillTx/>
                <a:latin typeface="Funnel Sans"/>
                <a:ea typeface="Funnel Sans"/>
              </a:rPr>
              <a:t>automatic peer discovery</a:t>
            </a:r>
            <a:r>
              <a:rPr b="0" lang="en-US" sz="1200" strike="noStrike" u="none">
                <a:solidFill>
                  <a:schemeClr val="dk1"/>
                </a:solidFill>
                <a:effectLst/>
                <a:uFillTx/>
                <a:latin typeface="Funnel Sans"/>
                <a:ea typeface="Funnel Sans"/>
              </a:rPr>
              <a:t> and encrypted messaging, eliminating privacy concerns tied to centralized platforms.</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4" name="Google Shape;224;p28"/>
          <p:cNvGrpSpPr/>
          <p:nvPr/>
        </p:nvGrpSpPr>
        <p:grpSpPr>
          <a:xfrm>
            <a:off x="118440" y="1505520"/>
            <a:ext cx="8907120" cy="3546360"/>
            <a:chOff x="118440" y="1505520"/>
            <a:chExt cx="8907120" cy="3546360"/>
          </a:xfrm>
        </p:grpSpPr>
        <p:sp>
          <p:nvSpPr>
            <p:cNvPr id="75"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76"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7"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Technology &amp; Architecture</a:t>
            </a:r>
            <a:endParaRPr b="0" lang="en-US" sz="2700" strike="noStrike" u="none">
              <a:solidFill>
                <a:srgbClr val="ffffff"/>
              </a:solidFill>
              <a:effectLst/>
              <a:uFillTx/>
              <a:latin typeface="Noto Serif"/>
            </a:endParaRPr>
          </a:p>
        </p:txBody>
      </p:sp>
      <p:sp>
        <p:nvSpPr>
          <p:cNvPr id="78"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application is built using </a:t>
            </a:r>
            <a:r>
              <a:rPr b="1" lang="en-US" sz="1200" strike="noStrike" u="none">
                <a:solidFill>
                  <a:schemeClr val="dk1"/>
                </a:solidFill>
                <a:effectLst/>
                <a:uFillTx/>
                <a:latin typeface="Funnel Sans"/>
                <a:ea typeface="Funnel Sans"/>
              </a:rPr>
              <a:t>Java (JDK 11+)</a:t>
            </a:r>
            <a:r>
              <a:rPr b="0" lang="en-US" sz="1200" strike="noStrike" u="none">
                <a:solidFill>
                  <a:schemeClr val="dk1"/>
                </a:solidFill>
                <a:effectLst/>
                <a:uFillTx/>
                <a:latin typeface="Funnel Sans"/>
                <a:ea typeface="Funnel Sans"/>
              </a:rPr>
              <a:t> with Apache Maven for build automation. It employs java.net for networking (TCP sockets and UDP datagrams) and Java Cryptography Architecture for RSA. Architecture concepts include UDP broadcast for peer discovery and TCP sockets for reliable encrypted messaging, creating a robust and scalable system.</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9" name="Google Shape;224;p28"/>
          <p:cNvGrpSpPr/>
          <p:nvPr/>
        </p:nvGrpSpPr>
        <p:grpSpPr>
          <a:xfrm>
            <a:off x="118440" y="1505520"/>
            <a:ext cx="8907120" cy="3546360"/>
            <a:chOff x="118440" y="1505520"/>
            <a:chExt cx="8907120" cy="3546360"/>
          </a:xfrm>
        </p:grpSpPr>
        <p:sp>
          <p:nvSpPr>
            <p:cNvPr id="80"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1"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2"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Key Classes and Roles</a:t>
            </a:r>
            <a:endParaRPr b="0" lang="en-US" sz="2700" strike="noStrike" u="none">
              <a:solidFill>
                <a:srgbClr val="ffffff"/>
              </a:solidFill>
              <a:effectLst/>
              <a:uFillTx/>
              <a:latin typeface="Noto Serif"/>
            </a:endParaRPr>
          </a:p>
        </p:txBody>
      </p:sp>
      <p:sp>
        <p:nvSpPr>
          <p:cNvPr id="83"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Key components include </a:t>
            </a:r>
            <a:r>
              <a:rPr b="0" i="1" lang="en-US" sz="1200" strike="noStrike" u="none">
                <a:solidFill>
                  <a:schemeClr val="dk1"/>
                </a:solidFill>
                <a:effectLst/>
                <a:uFillTx/>
                <a:latin typeface="Funnel Sans"/>
                <a:ea typeface="Funnel Sans"/>
              </a:rPr>
              <a:t>PeerNode</a:t>
            </a:r>
            <a:r>
              <a:rPr b="0" lang="en-US" sz="1200" strike="noStrike" u="none">
                <a:solidFill>
                  <a:schemeClr val="dk1"/>
                </a:solidFill>
                <a:effectLst/>
                <a:uFillTx/>
                <a:latin typeface="Funnel Sans"/>
                <a:ea typeface="Funnel Sans"/>
              </a:rPr>
              <a:t>, which manages state and commands; </a:t>
            </a:r>
            <a:r>
              <a:rPr b="0" i="1" lang="en-US" sz="1200" strike="noStrike" u="none">
                <a:solidFill>
                  <a:schemeClr val="dk1"/>
                </a:solidFill>
                <a:effectLst/>
                <a:uFillTx/>
                <a:latin typeface="Funnel Sans"/>
                <a:ea typeface="Funnel Sans"/>
              </a:rPr>
              <a:t>ConnectionHandler</a:t>
            </a:r>
            <a:r>
              <a:rPr b="0" lang="en-US" sz="1200" strike="noStrike" u="none">
                <a:solidFill>
                  <a:schemeClr val="dk1"/>
                </a:solidFill>
                <a:effectLst/>
                <a:uFillTx/>
                <a:latin typeface="Funnel Sans"/>
                <a:ea typeface="Funnel Sans"/>
              </a:rPr>
              <a:t>, which handles TCP connections securely; </a:t>
            </a:r>
            <a:r>
              <a:rPr b="0" i="1" lang="en-US" sz="1200" strike="noStrike" u="none">
                <a:solidFill>
                  <a:schemeClr val="dk1"/>
                </a:solidFill>
                <a:effectLst/>
                <a:uFillTx/>
                <a:latin typeface="Funnel Sans"/>
                <a:ea typeface="Funnel Sans"/>
              </a:rPr>
              <a:t>PeerDiscovery</a:t>
            </a:r>
            <a:r>
              <a:rPr b="0" lang="en-US" sz="1200" strike="noStrike" u="none">
                <a:solidFill>
                  <a:schemeClr val="dk1"/>
                </a:solidFill>
                <a:effectLst/>
                <a:uFillTx/>
                <a:latin typeface="Funnel Sans"/>
                <a:ea typeface="Funnel Sans"/>
              </a:rPr>
              <a:t> for auto-discovery via UDP; and </a:t>
            </a:r>
            <a:r>
              <a:rPr b="0" i="1" lang="en-US" sz="1200" strike="noStrike" u="none">
                <a:solidFill>
                  <a:schemeClr val="dk1"/>
                </a:solidFill>
                <a:effectLst/>
                <a:uFillTx/>
                <a:latin typeface="Funnel Sans"/>
                <a:ea typeface="Funnel Sans"/>
              </a:rPr>
              <a:t>KeyManager CryptoUtils</a:t>
            </a:r>
            <a:r>
              <a:rPr b="0" lang="en-US" sz="1200" strike="noStrike" u="none">
                <a:solidFill>
                  <a:schemeClr val="dk1"/>
                </a:solidFill>
                <a:effectLst/>
                <a:uFillTx/>
                <a:latin typeface="Funnel Sans"/>
                <a:ea typeface="Funnel Sans"/>
              </a:rPr>
              <a:t> for RSA key management. Together, these classes enable a seamless and secure user experience in a stateful terminal UI.</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Google Shape;280;p31" descr=""/>
          <p:cNvPicPr/>
          <p:nvPr/>
        </p:nvPicPr>
        <p:blipFill>
          <a:blip r:embed="rId1"/>
          <a:srcRect l="13798" t="0" r="1556" b="0"/>
          <a:stretch/>
        </p:blipFill>
        <p:spPr>
          <a:xfrm>
            <a:off x="5659200" y="0"/>
            <a:ext cx="3484080" cy="5142960"/>
          </a:xfrm>
          <a:prstGeom prst="rect">
            <a:avLst/>
          </a:prstGeom>
          <a:noFill/>
          <a:ln w="0">
            <a:noFill/>
          </a:ln>
        </p:spPr>
      </p:pic>
      <p:grpSp>
        <p:nvGrpSpPr>
          <p:cNvPr id="85" name="Google Shape;281;p31"/>
          <p:cNvGrpSpPr/>
          <p:nvPr/>
        </p:nvGrpSpPr>
        <p:grpSpPr>
          <a:xfrm>
            <a:off x="118440" y="585360"/>
            <a:ext cx="8907120" cy="4466520"/>
            <a:chOff x="118440" y="585360"/>
            <a:chExt cx="8907120" cy="4466520"/>
          </a:xfrm>
        </p:grpSpPr>
        <p:sp>
          <p:nvSpPr>
            <p:cNvPr id="86" name="Google Shape;282;p31"/>
            <p:cNvSpPr/>
            <p:nvPr/>
          </p:nvSpPr>
          <p:spPr>
            <a:xfrm>
              <a:off x="118440" y="585360"/>
              <a:ext cx="5191560" cy="149076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87" name="Google Shape;283;p31"/>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8" name="PlaceHolder 1"/>
          <p:cNvSpPr>
            <a:spLocks noGrp="1"/>
          </p:cNvSpPr>
          <p:nvPr>
            <p:ph type="title"/>
          </p:nvPr>
        </p:nvSpPr>
        <p:spPr>
          <a:xfrm>
            <a:off x="228600" y="600120"/>
            <a:ext cx="4723560" cy="139932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Core Workflow &amp;</a:t>
            </a:r>
            <a:endParaRPr b="0" lang="en-US" sz="2700" strike="noStrike" u="none">
              <a:solidFill>
                <a:srgbClr val="ffffff"/>
              </a:solidFill>
              <a:effectLst/>
              <a:uFillTx/>
              <a:latin typeface="Noto Serif"/>
            </a:endParaRPr>
          </a:p>
          <a:p>
            <a:pPr indent="0">
              <a:lnSpc>
                <a:spcPct val="100000"/>
              </a:lnSpc>
              <a:buNone/>
              <a:tabLst>
                <a:tab algn="l" pos="0"/>
              </a:tabLst>
            </a:pPr>
            <a:r>
              <a:rPr b="1" lang="en-US" sz="2700" strike="noStrike" u="none">
                <a:solidFill>
                  <a:schemeClr val="dk1"/>
                </a:solidFill>
                <a:effectLst/>
                <a:uFillTx/>
                <a:latin typeface="Manrope"/>
                <a:ea typeface="Manrope"/>
              </a:rPr>
              <a:t> Features</a:t>
            </a:r>
            <a:endParaRPr b="0" lang="en-US" sz="2700" strike="noStrike" u="none">
              <a:solidFill>
                <a:srgbClr val="ffffff"/>
              </a:solidFill>
              <a:effectLst/>
              <a:uFillTx/>
              <a:latin typeface="Noto Serif"/>
            </a:endParaRPr>
          </a:p>
        </p:txBody>
      </p:sp>
      <p:sp>
        <p:nvSpPr>
          <p:cNvPr id="89" name="PlaceHolder 2"/>
          <p:cNvSpPr>
            <a:spLocks noGrp="1"/>
          </p:cNvSpPr>
          <p:nvPr>
            <p:ph type="subTitle"/>
          </p:nvPr>
        </p:nvSpPr>
        <p:spPr>
          <a:xfrm>
            <a:off x="228600" y="2314440"/>
            <a:ext cx="4028400" cy="209484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Users are discovered automatically with public keys exchanged in the background. Conversations start with a </a:t>
            </a:r>
            <a:r>
              <a:rPr b="0" i="1" lang="en-US" sz="1200" strike="noStrike" u="none">
                <a:solidFill>
                  <a:schemeClr val="dk1"/>
                </a:solidFill>
                <a:effectLst/>
                <a:uFillTx/>
                <a:latin typeface="Funnel Sans"/>
                <a:ea typeface="Funnel Sans"/>
              </a:rPr>
              <a:t>request/inbox system,</a:t>
            </a:r>
            <a:r>
              <a:rPr b="0" lang="en-US" sz="1200" strike="noStrike" u="none">
                <a:solidFill>
                  <a:schemeClr val="dk1"/>
                </a:solidFill>
                <a:effectLst/>
                <a:uFillTx/>
                <a:latin typeface="Funnel Sans"/>
                <a:ea typeface="Funnel Sans"/>
              </a:rPr>
              <a:t> requiring acceptance before chat begins. Once connected, a secure, encrypted chat session starts with a clean, message-focused UI. The apps </a:t>
            </a:r>
            <a:r>
              <a:rPr b="0" i="1" lang="en-US" sz="1200" strike="noStrike" u="none">
                <a:solidFill>
                  <a:schemeClr val="dk1"/>
                </a:solidFill>
                <a:effectLst/>
                <a:uFillTx/>
                <a:latin typeface="Funnel Sans"/>
                <a:ea typeface="Funnel Sans"/>
              </a:rPr>
              <a:t>stateful terminal UI</a:t>
            </a:r>
            <a:r>
              <a:rPr b="0" lang="en-US" sz="1200" strike="noStrike" u="none">
                <a:solidFill>
                  <a:schemeClr val="dk1"/>
                </a:solidFill>
                <a:effectLst/>
                <a:uFillTx/>
                <a:latin typeface="Funnel Sans"/>
                <a:ea typeface="Funnel Sans"/>
              </a:rPr>
              <a:t> organizes interactions into clear, intuitive menus for efficient messaging.</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0" name="Google Shape;224;p28"/>
          <p:cNvGrpSpPr/>
          <p:nvPr/>
        </p:nvGrpSpPr>
        <p:grpSpPr>
          <a:xfrm>
            <a:off x="118440" y="1505520"/>
            <a:ext cx="8907120" cy="3546360"/>
            <a:chOff x="118440" y="1505520"/>
            <a:chExt cx="8907120" cy="3546360"/>
          </a:xfrm>
        </p:grpSpPr>
        <p:sp>
          <p:nvSpPr>
            <p:cNvPr id="91"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2"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3"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User Privacy and Control</a:t>
            </a:r>
            <a:endParaRPr b="0" lang="en-US" sz="2700" strike="noStrike" u="none">
              <a:solidFill>
                <a:srgbClr val="ffffff"/>
              </a:solidFill>
              <a:effectLst/>
              <a:uFillTx/>
              <a:latin typeface="Noto Serif"/>
            </a:endParaRPr>
          </a:p>
        </p:txBody>
      </p:sp>
      <p:sp>
        <p:nvSpPr>
          <p:cNvPr id="94"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Our P2P messenger ensures </a:t>
            </a:r>
            <a:r>
              <a:rPr b="1" lang="en-US" sz="1200" strike="noStrike" u="none">
                <a:solidFill>
                  <a:schemeClr val="dk1"/>
                </a:solidFill>
                <a:effectLst/>
                <a:uFillTx/>
                <a:latin typeface="Funnel Sans"/>
                <a:ea typeface="Funnel Sans"/>
              </a:rPr>
              <a:t>complete user control</a:t>
            </a:r>
            <a:r>
              <a:rPr b="0" lang="en-US" sz="1200" strike="noStrike" u="none">
                <a:solidFill>
                  <a:schemeClr val="dk1"/>
                </a:solidFill>
                <a:effectLst/>
                <a:uFillTx/>
                <a:latin typeface="Funnel Sans"/>
                <a:ea typeface="Funnel Sans"/>
              </a:rPr>
              <a:t> by eliminating centralized servers. Messages are exchanged directly between peers, protecting user data from company surveillance or breaches. This direct communication model enforces </a:t>
            </a:r>
            <a:r>
              <a:rPr b="1" lang="en-US" sz="1200" strike="noStrike" u="none">
                <a:solidFill>
                  <a:schemeClr val="dk1"/>
                </a:solidFill>
                <a:effectLst/>
                <a:uFillTx/>
                <a:latin typeface="Funnel Sans"/>
                <a:ea typeface="Funnel Sans"/>
              </a:rPr>
              <a:t>end-to-end encryption</a:t>
            </a:r>
            <a:r>
              <a:rPr b="0" lang="en-US" sz="1200" strike="noStrike" u="none">
                <a:solidFill>
                  <a:schemeClr val="dk1"/>
                </a:solidFill>
                <a:effectLst/>
                <a:uFillTx/>
                <a:latin typeface="Funnel Sans"/>
                <a:ea typeface="Funnel Sans"/>
              </a:rPr>
              <a:t>, empowering users to manage their privacy fully and securely in an intuitive environment.</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5" name="Google Shape;224;p28"/>
          <p:cNvGrpSpPr/>
          <p:nvPr/>
        </p:nvGrpSpPr>
        <p:grpSpPr>
          <a:xfrm>
            <a:off x="118440" y="1505520"/>
            <a:ext cx="8907120" cy="3546360"/>
            <a:chOff x="118440" y="1505520"/>
            <a:chExt cx="8907120" cy="3546360"/>
          </a:xfrm>
        </p:grpSpPr>
        <p:sp>
          <p:nvSpPr>
            <p:cNvPr id="96"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97"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8"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Java and Tools Used</a:t>
            </a:r>
            <a:endParaRPr b="0" lang="en-US" sz="2700" strike="noStrike" u="none">
              <a:solidFill>
                <a:srgbClr val="ffffff"/>
              </a:solidFill>
              <a:effectLst/>
              <a:uFillTx/>
              <a:latin typeface="Noto Serif"/>
            </a:endParaRPr>
          </a:p>
        </p:txBody>
      </p:sp>
      <p:sp>
        <p:nvSpPr>
          <p:cNvPr id="99"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application uses </a:t>
            </a:r>
            <a:r>
              <a:rPr b="1" lang="en-US" sz="1200" strike="noStrike" u="none">
                <a:solidFill>
                  <a:schemeClr val="dk1"/>
                </a:solidFill>
                <a:effectLst/>
                <a:uFillTx/>
                <a:latin typeface="Funnel Sans"/>
                <a:ea typeface="Funnel Sans"/>
              </a:rPr>
              <a:t>Java JDK 11+</a:t>
            </a:r>
            <a:r>
              <a:rPr b="0" lang="en-US" sz="1200" strike="noStrike" u="none">
                <a:solidFill>
                  <a:schemeClr val="dk1"/>
                </a:solidFill>
                <a:effectLst/>
                <a:uFillTx/>
                <a:latin typeface="Funnel Sans"/>
                <a:ea typeface="Funnel Sans"/>
              </a:rPr>
              <a:t> for modern language features and stability. Apache Maven serves as the build management tool, streamlining project dependencies and compilation. Core Java libraries support networking via TCP sockets and UDP datagrams, while the Java Cryptography Architecture facilitates </a:t>
            </a:r>
            <a:r>
              <a:rPr b="1" lang="en-US" sz="1200" strike="noStrike" u="none">
                <a:solidFill>
                  <a:schemeClr val="dk1"/>
                </a:solidFill>
                <a:effectLst/>
                <a:uFillTx/>
                <a:latin typeface="Funnel Sans"/>
                <a:ea typeface="Funnel Sans"/>
              </a:rPr>
              <a:t>RSA encryption</a:t>
            </a:r>
            <a:r>
              <a:rPr b="0" lang="en-US" sz="1200" strike="noStrike" u="none">
                <a:solidFill>
                  <a:schemeClr val="dk1"/>
                </a:solidFill>
                <a:effectLst/>
                <a:uFillTx/>
                <a:latin typeface="Funnel Sans"/>
                <a:ea typeface="Funnel Sans"/>
              </a:rPr>
              <a:t>, ensuring secure message transmission.</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Google Shape;280;p31" descr=""/>
          <p:cNvPicPr/>
          <p:nvPr/>
        </p:nvPicPr>
        <p:blipFill>
          <a:blip r:embed="rId1"/>
          <a:srcRect l="13798" t="0" r="1556" b="0"/>
          <a:stretch/>
        </p:blipFill>
        <p:spPr>
          <a:xfrm>
            <a:off x="5659200" y="0"/>
            <a:ext cx="3484080" cy="5142960"/>
          </a:xfrm>
          <a:prstGeom prst="rect">
            <a:avLst/>
          </a:prstGeom>
          <a:noFill/>
          <a:ln w="0">
            <a:noFill/>
          </a:ln>
        </p:spPr>
      </p:pic>
      <p:grpSp>
        <p:nvGrpSpPr>
          <p:cNvPr id="101" name="Google Shape;281;p31"/>
          <p:cNvGrpSpPr/>
          <p:nvPr/>
        </p:nvGrpSpPr>
        <p:grpSpPr>
          <a:xfrm>
            <a:off x="118440" y="585360"/>
            <a:ext cx="8907120" cy="4466520"/>
            <a:chOff x="118440" y="585360"/>
            <a:chExt cx="8907120" cy="4466520"/>
          </a:xfrm>
        </p:grpSpPr>
        <p:sp>
          <p:nvSpPr>
            <p:cNvPr id="102" name="Google Shape;282;p31"/>
            <p:cNvSpPr/>
            <p:nvPr/>
          </p:nvSpPr>
          <p:spPr>
            <a:xfrm>
              <a:off x="118440" y="585360"/>
              <a:ext cx="5191560" cy="1490760"/>
            </a:xfrm>
            <a:prstGeom prst="roundRect">
              <a:avLst>
                <a:gd name="adj" fmla="val 16667"/>
              </a:avLst>
            </a:prstGeom>
            <a:solidFill>
              <a:schemeClr val="l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3" name="Google Shape;283;p31"/>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4" name="PlaceHolder 1"/>
          <p:cNvSpPr>
            <a:spLocks noGrp="1"/>
          </p:cNvSpPr>
          <p:nvPr>
            <p:ph type="title"/>
          </p:nvPr>
        </p:nvSpPr>
        <p:spPr>
          <a:xfrm>
            <a:off x="228600" y="600120"/>
            <a:ext cx="4723560" cy="1399320"/>
          </a:xfrm>
          <a:prstGeom prst="rect">
            <a:avLst/>
          </a:prstGeom>
          <a:noFill/>
          <a:ln w="0">
            <a:noFill/>
          </a:ln>
        </p:spPr>
        <p:txBody>
          <a:bodyPr lIns="91440" rIns="91440" tIns="91440" bIns="91440" anchor="b">
            <a:normAutofit/>
          </a:bodyPr>
          <a:p>
            <a:pPr indent="0">
              <a:lnSpc>
                <a:spcPct val="100000"/>
              </a:lnSpc>
              <a:buNone/>
              <a:tabLst>
                <a:tab algn="l" pos="0"/>
              </a:tabLst>
            </a:pPr>
            <a:r>
              <a:rPr b="1" lang="en-US" sz="2700" strike="noStrike" u="none">
                <a:solidFill>
                  <a:schemeClr val="dk1"/>
                </a:solidFill>
                <a:effectLst/>
                <a:uFillTx/>
                <a:latin typeface="Manrope"/>
                <a:ea typeface="Manrope"/>
              </a:rPr>
              <a:t>System Architecture</a:t>
            </a:r>
            <a:endParaRPr b="0" lang="en-US" sz="2700" strike="noStrike" u="none">
              <a:solidFill>
                <a:srgbClr val="ffffff"/>
              </a:solidFill>
              <a:effectLst/>
              <a:uFillTx/>
              <a:latin typeface="Noto Serif"/>
            </a:endParaRPr>
          </a:p>
          <a:p>
            <a:pPr indent="0">
              <a:lnSpc>
                <a:spcPct val="100000"/>
              </a:lnSpc>
              <a:buNone/>
              <a:tabLst>
                <a:tab algn="l" pos="0"/>
              </a:tabLst>
            </a:pPr>
            <a:r>
              <a:rPr b="1" lang="en-US" sz="2700" strike="noStrike" u="none">
                <a:solidFill>
                  <a:schemeClr val="dk1"/>
                </a:solidFill>
                <a:effectLst/>
                <a:uFillTx/>
                <a:latin typeface="Manrope"/>
                <a:ea typeface="Manrope"/>
              </a:rPr>
              <a:t> Overview</a:t>
            </a:r>
            <a:endParaRPr b="0" lang="en-US" sz="2700" strike="noStrike" u="none">
              <a:solidFill>
                <a:srgbClr val="ffffff"/>
              </a:solidFill>
              <a:effectLst/>
              <a:uFillTx/>
              <a:latin typeface="Noto Serif"/>
            </a:endParaRPr>
          </a:p>
        </p:txBody>
      </p:sp>
      <p:sp>
        <p:nvSpPr>
          <p:cNvPr id="105" name="PlaceHolder 2"/>
          <p:cNvSpPr>
            <a:spLocks noGrp="1"/>
          </p:cNvSpPr>
          <p:nvPr>
            <p:ph type="subTitle"/>
          </p:nvPr>
        </p:nvSpPr>
        <p:spPr>
          <a:xfrm>
            <a:off x="228600" y="2314440"/>
            <a:ext cx="4028400" cy="2094840"/>
          </a:xfrm>
          <a:prstGeom prst="rect">
            <a:avLst/>
          </a:prstGeom>
          <a:noFill/>
          <a:ln w="0">
            <a:noFill/>
          </a:ln>
        </p:spPr>
        <p:txBody>
          <a:bodyPr lIns="91440" rIns="91440" tIns="91440" bIns="91440" anchor="b">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The system architecture includes </a:t>
            </a:r>
            <a:r>
              <a:rPr b="0" i="1" lang="en-US" sz="1200" strike="noStrike" u="none">
                <a:solidFill>
                  <a:schemeClr val="dk1"/>
                </a:solidFill>
                <a:effectLst/>
                <a:uFillTx/>
                <a:latin typeface="Funnel Sans"/>
                <a:ea typeface="Funnel Sans"/>
              </a:rPr>
              <a:t>UDP Broadcast</a:t>
            </a:r>
            <a:r>
              <a:rPr b="0" lang="en-US" sz="1200" strike="noStrike" u="none">
                <a:solidFill>
                  <a:schemeClr val="dk1"/>
                </a:solidFill>
                <a:effectLst/>
                <a:uFillTx/>
                <a:latin typeface="Funnel Sans"/>
                <a:ea typeface="Funnel Sans"/>
              </a:rPr>
              <a:t> for peer discovery and public key exchange, allowing users to be found automatically on the network. Communication relies on </a:t>
            </a:r>
            <a:r>
              <a:rPr b="1" lang="en-US" sz="1200" strike="noStrike" u="none">
                <a:solidFill>
                  <a:schemeClr val="dk1"/>
                </a:solidFill>
                <a:effectLst/>
                <a:uFillTx/>
                <a:latin typeface="Funnel Sans"/>
                <a:ea typeface="Funnel Sans"/>
              </a:rPr>
              <a:t>TCP sockets</a:t>
            </a:r>
            <a:r>
              <a:rPr b="0" lang="en-US" sz="1200" strike="noStrike" u="none">
                <a:solidFill>
                  <a:schemeClr val="dk1"/>
                </a:solidFill>
                <a:effectLst/>
                <a:uFillTx/>
                <a:latin typeface="Funnel Sans"/>
                <a:ea typeface="Funnel Sans"/>
              </a:rPr>
              <a:t> to deliver reliable, end-to-end encrypted messaging directly between peers, avoiding centralized servers and ensuring privacy.</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6" name="Google Shape;224;p28"/>
          <p:cNvGrpSpPr/>
          <p:nvPr/>
        </p:nvGrpSpPr>
        <p:grpSpPr>
          <a:xfrm>
            <a:off x="118440" y="1505520"/>
            <a:ext cx="8907120" cy="3546360"/>
            <a:chOff x="118440" y="1505520"/>
            <a:chExt cx="8907120" cy="3546360"/>
          </a:xfrm>
        </p:grpSpPr>
        <p:sp>
          <p:nvSpPr>
            <p:cNvPr id="107"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9"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Key Classes and Their Roles</a:t>
            </a:r>
            <a:endParaRPr b="0" lang="en-US" sz="2700" strike="noStrike" u="none">
              <a:solidFill>
                <a:srgbClr val="ffffff"/>
              </a:solidFill>
              <a:effectLst/>
              <a:uFillTx/>
              <a:latin typeface="Noto Serif"/>
            </a:endParaRPr>
          </a:p>
        </p:txBody>
      </p:sp>
      <p:sp>
        <p:nvSpPr>
          <p:cNvPr id="110"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Central classes include </a:t>
            </a:r>
            <a:r>
              <a:rPr b="0" i="1" lang="en-US" sz="1200" strike="noStrike" u="none">
                <a:solidFill>
                  <a:schemeClr val="dk1"/>
                </a:solidFill>
                <a:effectLst/>
                <a:uFillTx/>
                <a:latin typeface="Funnel Sans"/>
                <a:ea typeface="Funnel Sans"/>
              </a:rPr>
              <a:t>PeerNode</a:t>
            </a:r>
            <a:r>
              <a:rPr b="0" lang="en-US" sz="1200" strike="noStrike" u="none">
                <a:solidFill>
                  <a:schemeClr val="dk1"/>
                </a:solidFill>
                <a:effectLst/>
                <a:uFillTx/>
                <a:latin typeface="Funnel Sans"/>
                <a:ea typeface="Funnel Sans"/>
              </a:rPr>
              <a:t>, which drives the UI and coordinates commands. </a:t>
            </a:r>
            <a:r>
              <a:rPr b="0" i="1" lang="en-US" sz="1200" strike="noStrike" u="none">
                <a:solidFill>
                  <a:schemeClr val="dk1"/>
                </a:solidFill>
                <a:effectLst/>
                <a:uFillTx/>
                <a:latin typeface="Funnel Sans"/>
                <a:ea typeface="Funnel Sans"/>
              </a:rPr>
              <a:t>ConnectionHandler</a:t>
            </a:r>
            <a:r>
              <a:rPr b="0" lang="en-US" sz="1200" strike="noStrike" u="none">
                <a:solidFill>
                  <a:schemeClr val="dk1"/>
                </a:solidFill>
                <a:effectLst/>
                <a:uFillTx/>
                <a:latin typeface="Funnel Sans"/>
                <a:ea typeface="Funnel Sans"/>
              </a:rPr>
              <a:t> manages each TCP connection, decrypting and routing messages. </a:t>
            </a:r>
            <a:r>
              <a:rPr b="0" i="1" lang="en-US" sz="1200" strike="noStrike" u="none">
                <a:solidFill>
                  <a:schemeClr val="dk1"/>
                </a:solidFill>
                <a:effectLst/>
                <a:uFillTx/>
                <a:latin typeface="Funnel Sans"/>
                <a:ea typeface="Funnel Sans"/>
              </a:rPr>
              <a:t>PeerDiscovery</a:t>
            </a:r>
            <a:r>
              <a:rPr b="0" lang="en-US" sz="1200" strike="noStrike" u="none">
                <a:solidFill>
                  <a:schemeClr val="dk1"/>
                </a:solidFill>
                <a:effectLst/>
                <a:uFillTx/>
                <a:latin typeface="Funnel Sans"/>
                <a:ea typeface="Funnel Sans"/>
              </a:rPr>
              <a:t> runs in the background using UDP to find peers and share keys. </a:t>
            </a:r>
            <a:r>
              <a:rPr b="0" i="1" lang="en-US" sz="1200" strike="noStrike" u="none">
                <a:solidFill>
                  <a:schemeClr val="dk1"/>
                </a:solidFill>
                <a:effectLst/>
                <a:uFillTx/>
                <a:latin typeface="Funnel Sans"/>
                <a:ea typeface="Funnel Sans"/>
              </a:rPr>
              <a:t>KeyManager</a:t>
            </a:r>
            <a:r>
              <a:rPr b="0" lang="en-US" sz="1200" strike="noStrike" u="none">
                <a:solidFill>
                  <a:schemeClr val="dk1"/>
                </a:solidFill>
                <a:effectLst/>
                <a:uFillTx/>
                <a:latin typeface="Funnel Sans"/>
                <a:ea typeface="Funnel Sans"/>
              </a:rPr>
              <a:t> and </a:t>
            </a:r>
            <a:r>
              <a:rPr b="0" i="1" lang="en-US" sz="1200" strike="noStrike" u="none">
                <a:solidFill>
                  <a:schemeClr val="dk1"/>
                </a:solidFill>
                <a:effectLst/>
                <a:uFillTx/>
                <a:latin typeface="Funnel Sans"/>
                <a:ea typeface="Funnel Sans"/>
              </a:rPr>
              <a:t>CryptoUtils</a:t>
            </a:r>
            <a:r>
              <a:rPr b="0" lang="en-US" sz="1200" strike="noStrike" u="none">
                <a:solidFill>
                  <a:schemeClr val="dk1"/>
                </a:solidFill>
                <a:effectLst/>
                <a:uFillTx/>
                <a:latin typeface="Funnel Sans"/>
                <a:ea typeface="Funnel Sans"/>
              </a:rPr>
              <a:t> handle RSA key lifecycle, securing encryption and decryption processes.</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1" name="Google Shape;224;p28"/>
          <p:cNvGrpSpPr/>
          <p:nvPr/>
        </p:nvGrpSpPr>
        <p:grpSpPr>
          <a:xfrm>
            <a:off x="118440" y="1505520"/>
            <a:ext cx="8907120" cy="3546360"/>
            <a:chOff x="118440" y="1505520"/>
            <a:chExt cx="8907120" cy="3546360"/>
          </a:xfrm>
        </p:grpSpPr>
        <p:sp>
          <p:nvSpPr>
            <p:cNvPr id="112" name="Google Shape;225;p28"/>
            <p:cNvSpPr/>
            <p:nvPr/>
          </p:nvSpPr>
          <p:spPr>
            <a:xfrm>
              <a:off x="118440" y="1505520"/>
              <a:ext cx="8906400" cy="3157560"/>
            </a:xfrm>
            <a:prstGeom prst="roundRect">
              <a:avLst>
                <a:gd name="adj" fmla="val 5521"/>
              </a:avLst>
            </a:prstGeom>
            <a:noFill/>
            <a:ln w="9525">
              <a:solidFill>
                <a:srgbClr val="ffffff"/>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13" name="Google Shape;226;p28"/>
            <p:cNvSpPr/>
            <p:nvPr/>
          </p:nvSpPr>
          <p:spPr>
            <a:xfrm rot="5400000">
              <a:off x="4471560" y="497880"/>
              <a:ext cx="201240" cy="8906400"/>
            </a:xfrm>
            <a:prstGeom prst="roundRect">
              <a:avLst>
                <a:gd name="adj" fmla="val 50000"/>
              </a:avLst>
            </a:prstGeom>
            <a:noFill/>
            <a:ln w="9525">
              <a:solidFill>
                <a:srgbClr val="00ffa4"/>
              </a:solidFill>
              <a:round/>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4" name="PlaceHolder 1"/>
          <p:cNvSpPr>
            <a:spLocks noGrp="1"/>
          </p:cNvSpPr>
          <p:nvPr>
            <p:ph type="title"/>
          </p:nvPr>
        </p:nvSpPr>
        <p:spPr>
          <a:xfrm>
            <a:off x="723960" y="457200"/>
            <a:ext cx="7705080" cy="5709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1" lang="en-US" sz="2700" strike="noStrike" u="none">
                <a:solidFill>
                  <a:schemeClr val="dk1"/>
                </a:solidFill>
                <a:effectLst/>
                <a:uFillTx/>
                <a:latin typeface="Manrope"/>
                <a:ea typeface="Manrope"/>
              </a:rPr>
              <a:t>Conclusions</a:t>
            </a:r>
            <a:endParaRPr b="0" lang="en-US" sz="2700" strike="noStrike" u="none">
              <a:solidFill>
                <a:srgbClr val="ffffff"/>
              </a:solidFill>
              <a:effectLst/>
              <a:uFillTx/>
              <a:latin typeface="Noto Serif"/>
            </a:endParaRPr>
          </a:p>
        </p:txBody>
      </p:sp>
      <p:sp>
        <p:nvSpPr>
          <p:cNvPr id="115" name="PlaceHolder 2"/>
          <p:cNvSpPr>
            <a:spLocks noGrp="1"/>
          </p:cNvSpPr>
          <p:nvPr>
            <p:ph type="subTitle"/>
          </p:nvPr>
        </p:nvSpPr>
        <p:spPr>
          <a:xfrm>
            <a:off x="695160" y="1809720"/>
            <a:ext cx="7762320" cy="2618640"/>
          </a:xfrm>
          <a:prstGeom prst="rect">
            <a:avLst/>
          </a:prstGeom>
          <a:noFill/>
          <a:ln w="0">
            <a:noFill/>
          </a:ln>
        </p:spPr>
        <p:txBody>
          <a:bodyPr lIns="91440" rIns="91440" tIns="91440" bIns="91440" anchor="t">
            <a:normAutofit/>
          </a:bodyPr>
          <a:p>
            <a:pPr indent="0">
              <a:lnSpc>
                <a:spcPct val="120000"/>
              </a:lnSpc>
              <a:buNone/>
              <a:tabLst>
                <a:tab algn="l" pos="0"/>
              </a:tabLst>
            </a:pPr>
            <a:r>
              <a:rPr b="0" lang="en-US" sz="1200" strike="noStrike" u="none">
                <a:solidFill>
                  <a:schemeClr val="dk1"/>
                </a:solidFill>
                <a:effectLst/>
                <a:uFillTx/>
                <a:latin typeface="Funnel Sans"/>
                <a:ea typeface="Funnel Sans"/>
              </a:rPr>
              <a:t>This P2P messenger offers a </a:t>
            </a:r>
            <a:r>
              <a:rPr b="1" lang="en-US" sz="1200" strike="noStrike" u="none">
                <a:solidFill>
                  <a:schemeClr val="dk1"/>
                </a:solidFill>
                <a:effectLst/>
                <a:uFillTx/>
                <a:latin typeface="Funnel Sans"/>
                <a:ea typeface="Funnel Sans"/>
              </a:rPr>
              <a:t>secure and decentralized</a:t>
            </a:r>
            <a:r>
              <a:rPr b="0" lang="en-US" sz="1200" strike="noStrike" u="none">
                <a:solidFill>
                  <a:schemeClr val="dk1"/>
                </a:solidFill>
                <a:effectLst/>
                <a:uFillTx/>
                <a:latin typeface="Funnel Sans"/>
                <a:ea typeface="Funnel Sans"/>
              </a:rPr>
              <a:t> solution in the chat landscape by removing central points of failure and enhancing privacy. Leveraging Java technologies and robust encryption, the system provides seamless user discovery and encrypted communication. Its modular design ensures scalability and ease of use, making it an ideal tool for secure local network messaging.</a:t>
            </a:r>
            <a:endParaRPr b="0" lang="en-US" sz="1200" strike="noStrike" u="non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LibreOffice/25.2.6.2$Linux_X86_64 LibreOffice_project/520$Build-2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2025-10-24T12:29:33Z</dcterms:created>
  <dc:creator>Unknown Creator</dc:creator>
  <dc:description/>
  <dc:language>en-US</dc:language>
  <cp:lastModifiedBy/>
  <dcterms:modified xsi:type="dcterms:W3CDTF">2025-10-24T18:03:05Z</dcterms:modified>
  <cp:revision>1</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15</vt:r8>
  </property>
</Properties>
</file>